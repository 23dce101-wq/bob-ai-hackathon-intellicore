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IBM BOB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PortPredict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D4AA"/>
                </a:solidFill>
                <a:latin typeface="Calibri"/>
              </a:defRPr>
            </a:pPr>
            <a:r>
              <a:t>Container Congestion Predictor &amp; Port Operations Optimiser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74320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CCCC"/>
                </a:solidFill>
                <a:latin typeface="Calibri"/>
              </a:defRPr>
            </a:pPr>
            <a:r>
              <a:t>Team Intellicore  |  Track: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Jay Prajapati  ·  Nency Patel  ·  Aeni Patel  ·  Dishva Vasoya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23dce101@charusat.edu.in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0" y="1371600"/>
            <a:ext cx="2286000" cy="2286000"/>
          </a:xfrm>
          <a:prstGeom prst="ellipse">
            <a:avLst/>
          </a:prstGeom>
          <a:noFill/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0" y="1645920"/>
            <a:ext cx="1828800" cy="1828800"/>
          </a:xfrm>
          <a:prstGeom prst="ellipse">
            <a:avLst/>
          </a:prstGeom>
          <a:noFill/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00400" cy="11887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545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Vessels Stranded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00400" cy="11887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107"/>
                </a:solidFill>
                <a:latin typeface="Calibri"/>
              </a:defRPr>
            </a:pPr>
            <a:r>
              <a:t>$10B+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Supply Chain Losses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00400" cy="11887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545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Waiting Time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999232"/>
            <a:ext cx="137160" cy="1371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2021 LA/Long Beach port backlog — the worst maritime gridlock in modern history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657600"/>
            <a:ext cx="137160" cy="1371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844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Port operators manually allocate berths, cranes, and yard space across hundreds of vessels using spreadsheets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315968"/>
            <a:ext cx="137160" cy="1371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428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Congestion hotspots are identified reactively — AFTER vessels are already queuing offshore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974336"/>
            <a:ext cx="137160" cy="1371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0118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Alternate routing and reassignment decisions come too late to prevent catastrophic demurrage charges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632704"/>
            <a:ext cx="137160" cy="1371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595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No proactive, explainable congestion prediction system exists for port operations teams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Calibri"/>
              </a:defRPr>
            </a:pPr>
            <a:r>
              <a:t>PortPredict AI — Real-time Predictive Port Operations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120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BFF"/>
                </a:solidFill>
                <a:latin typeface="Calibri"/>
              </a:defRPr>
            </a:pPr>
            <a:r>
              <a:t>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72-Hour Congestion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Predicts congestion hotspots using deterministic mathematical scheduling with ranked root-cause bottleneck attribution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120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BFF"/>
                </a:solidFill>
                <a:latin typeface="Calibri"/>
              </a:defRPr>
            </a:pPr>
            <a:r>
              <a:t>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60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Automated Berth Reassignment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80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Greedy heuristic optimizer evaluates delayed vessels against compatible berths, showing net waiting hours saved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120640" cy="20116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120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B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AI-Powered Shift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IBM watsonx.ai streams 72-hour operational plans and real-time dispatcher guidance grounded in live port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97680"/>
            <a:ext cx="5120640" cy="20116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297680"/>
            <a:ext cx="512064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7B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46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Interactive Digital Twin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1663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Real-time maritime terminal simulation with vessel tracking, Gantt schedules, and live scenario disruption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—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45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KPI strip with congestion score, berth utilisation, yard capacity, and waiting vessels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9601200" cy="12700"/>
          </a:xfrm>
          <a:prstGeom prst="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377440"/>
            <a:ext cx="594360" cy="59436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Interactive maritime digital twin — scrub through 72 hours, click vessels to inspect assignments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246120"/>
            <a:ext cx="9601200" cy="12700"/>
          </a:xfrm>
          <a:prstGeom prst="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429000"/>
            <a:ext cx="594360" cy="5943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49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One-click berth reassignment with real-time waiting-hour savings analysis and schedule updates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4297680"/>
            <a:ext cx="9601200" cy="12700"/>
          </a:xfrm>
          <a:prstGeom prst="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480559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34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0059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CSV vessel import + scenario disruption engine — close berths, inject storms, simulate surges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5349239"/>
            <a:ext cx="9601200" cy="12700"/>
          </a:xfrm>
          <a:prstGeom prst="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594360" cy="594360"/>
          </a:xfrm>
          <a:prstGeom prst="ellips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Copilot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852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Natural language Q&amp;A + streaming 72-hour shift operations planner powered by IBM watsonx.ai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100584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React 19 + Vite + Tailwind CSS + React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331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51760"/>
            <a:ext cx="9144000" cy="100584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7C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4DFF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08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Node.js + Express — Serves port state, optimisation, AI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6118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931920"/>
            <a:ext cx="9144000" cy="100584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State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389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Deterministic scheduling, congestion detection, greedy 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892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212080"/>
            <a:ext cx="9144000" cy="100584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Calibri"/>
              </a:defRPr>
            </a:pPr>
            <a:r>
              <a:t>AI 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669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Ollama (local) → IBM watsonx.ai Granite 4-H-Small (cloud fallback)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POST /api/port-state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C107"/>
                </a:solidFill>
                <a:latin typeface="Calibri"/>
              </a:defRPr>
            </a:pPr>
            <a:r>
              <a:t>Streaming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  <a:latin typeface="Calibri"/>
              </a:defRPr>
            </a:pPr>
            <a:r>
              <a:t>Demo Video: https://drive.google.com/file/d/1_SeszmGZmT-9oOLbL7D8B1_KeVX7GxhU/view?usp=sharing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Import 10 vessels via CSV or add manually in Controls tab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Run the 72-hour simulation — watch berth allocation animate in real-time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03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Close Berth B3 in Configure Berths — see real-time vessel diversion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Run the Optimiser — view waiting hours saved across affected vessels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57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Ask AI Copilot: "What are the top congestion drivers right now?"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576072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Step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0350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Generate 72-hour shift plan — streaming WatsonX-powered operations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AA"/>
                </a:solidFill>
                <a:latin typeface="Calibri"/>
              </a:defRPr>
            </a:pPr>
            <a:r>
              <a:t>[Landing Page]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Landing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48640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  <a:latin typeface="Calibri"/>
              </a:defRPr>
            </a:pPr>
            <a:r>
              <a:t>[Dashboard KPIs]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514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Dashboard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548640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[Live Simulation]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Live Simulation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48640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107"/>
                </a:solidFill>
                <a:latin typeface="Calibri"/>
              </a:defRPr>
            </a:pPr>
            <a:r>
              <a:t>[Optimisation &amp; Gantt]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43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Optimisation &amp; Gantt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548640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B86FC"/>
                </a:solidFill>
                <a:latin typeface="Calibri"/>
              </a:defRPr>
            </a:pPr>
            <a:r>
              <a:t>[Controls &amp; Scenarios]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Controls &amp; Scenarios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F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969"/>
                </a:solidFill>
                <a:latin typeface="Calibri"/>
              </a:defRPr>
            </a:pPr>
            <a:r>
              <a:t>[AI Copilot]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6172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AI Copilot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IBM TECHNOLOGY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635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BFF"/>
                </a:solidFill>
                <a:latin typeface="Calibri"/>
              </a:defRPr>
            </a:pPr>
            <a:r>
              <a:t>IBM 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Agent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743200"/>
            <a:ext cx="1920240" cy="127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Used as the primary AI agent framework for building and orchestrating the port operations intelligence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71600"/>
            <a:ext cx="3383280" cy="411480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38328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IBM watsonx.ai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Granite 4-H-Small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2743200"/>
            <a:ext cx="1920240" cy="127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Streams production-grade 72-hour shift operations plans and answers operational triage questions in real-time with grounded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1371600"/>
            <a:ext cx="3383280" cy="411480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9" y="1371600"/>
            <a:ext cx="3383280" cy="635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Calibri"/>
              </a:defRPr>
            </a:pPr>
            <a:r>
              <a:t>Dual AI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Ollama + WatsonX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2743200"/>
            <a:ext cx="1920240" cy="127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30175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WatsonX provides cloud inference; Ollama ensures local fallback when cloud is unavailable — zero downtime resilience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760720"/>
            <a:ext cx="9144000" cy="7315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5852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Calibri"/>
              </a:defRPr>
            </a:pPr>
            <a:r>
              <a:t>Zero Hallucinations — AI grounded in actual port state data, not generic training corpora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3500" cy="21945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7BFF"/>
                </a:solidFill>
                <a:latin typeface="Calibri"/>
              </a:defRPr>
            </a:pPr>
            <a:r>
              <a:t>Deterministic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Same inputs always produce same outputs — mathematically verifiable, no randomness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383280" cy="21945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63500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  <a:latin typeface="Calibri"/>
              </a:defRPr>
            </a:pPr>
            <a:r>
              <a:t>Greedy Heuristic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194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Explainable berth reassignment in milliseconds — instant schedule recalculation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371600"/>
            <a:ext cx="3383280" cy="21945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9" y="1371600"/>
            <a:ext cx="63500" cy="21945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76"/>
                </a:solidFill>
                <a:latin typeface="Calibri"/>
              </a:defRPr>
            </a:pPr>
            <a:r>
              <a:t>localStorage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194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Events, vessel data, and berth closures survive page refreshes — no database needed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63500" cy="2194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C107"/>
                </a:solidFill>
                <a:latin typeface="Calibri"/>
              </a:defRPr>
            </a:pPr>
            <a:r>
              <a:t>Throttled SVG Animation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Smooth 60fps simulation with frame-throttled recomputation for 25+ vessels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383280" cy="21945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63500" cy="2194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  <a:latin typeface="Calibri"/>
              </a:defRPr>
            </a:pPr>
            <a:r>
              <a:t>Dual AI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754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WatsonX cloud primary + Ollama local fallback — zero downtime AI inference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3931920"/>
            <a:ext cx="3383280" cy="219456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F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9" y="3931920"/>
            <a:ext cx="63500" cy="2194560"/>
          </a:xfrm>
          <a:prstGeom prst="rect">
            <a:avLst/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969"/>
                </a:solidFill>
                <a:latin typeface="Calibri"/>
              </a:defRPr>
            </a:pPr>
            <a:r>
              <a:t>CSV Vessel Import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754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Upload real vessel schedules or add manually — zero synthetic data, all user-driven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RESULTS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182880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76"/>
                </a:solidFill>
                <a:latin typeface="Calibri"/>
              </a:defRPr>
            </a:pPr>
            <a:r>
              <a:t>15-40%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Vessel Waiting</a:t>
            </a:r>
            <a:br/>
            <a:r>
              <a:t>Hours Reduced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51760" cy="182880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7BFF"/>
                </a:solidFill>
                <a:latin typeface="Calibri"/>
              </a:defRPr>
            </a:pPr>
            <a:r>
              <a:t>72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Congestion Forecast</a:t>
            </a:r>
            <a:br/>
            <a:r>
              <a:t>Horizon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651760" cy="182880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AI Hallucinations</a:t>
            </a:r>
            <a:br/>
            <a:r>
              <a:t>(Grounded Data)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651760" cy="182880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  <a:latin typeface="Calibri"/>
              </a:defRPr>
            </a:pPr>
            <a:r>
              <a:t>&lt;100ms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Optimisation</a:t>
            </a:r>
            <a:br/>
            <a:r>
              <a:t>Recalculation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566160"/>
            <a:ext cx="137160" cy="1371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520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Proactive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20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Identifies congestion 72 hours ahead — before vessels start queuing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315968"/>
            <a:ext cx="137160" cy="1371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702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Explainable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70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Every recommendation comes with ranked root-cause drivers — no black-box AI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065776"/>
            <a:ext cx="137160" cy="1371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0200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Operational Resilience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0200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Dual AI backend ensures system works offline (Ollama) and online (WatsonX)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815584"/>
            <a:ext cx="137160" cy="1371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7698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Immediate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7698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AI grounded in actual port state data — operators can act on recommendations instantly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0800" cy="10972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TypeScript · JavaScript · HTML5 · CSS3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0800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React 19 · Vite · React Router · 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06040"/>
            <a:ext cx="50800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Node.js · Express · TypeScript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06040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606040"/>
            <a:ext cx="50800" cy="10972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IBM Technologies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watsonx.ai · IBM Granite 4-H-Small · IBM Bob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50800" cy="10972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In-Memory Engine · localStorage Persistence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931920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FF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931920"/>
            <a:ext cx="50800" cy="1097280"/>
          </a:xfrm>
          <a:prstGeom prst="rect">
            <a:avLst/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069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969"/>
                </a:solidFill>
                <a:latin typeface="Calibri"/>
              </a:defRPr>
            </a:pPr>
            <a:r>
              <a:t>UI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Radix UI · shadcn/ui · Lucide React · Recharts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57799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257799"/>
            <a:ext cx="50800" cy="109728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3949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FF"/>
                </a:solidFill>
                <a:latin typeface="Calibri"/>
              </a:defRPr>
            </a:pPr>
            <a:r>
              <a:t>AI Backends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760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IBM watsonx.ai (Cloud) · Ollama (Local Fallback)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257799"/>
            <a:ext cx="5303520" cy="109728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5257799"/>
            <a:ext cx="50800" cy="10972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39495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99999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760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Concurrently · esbuild · Vite Build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WE'RE PROUD OF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2560320"/>
          </a:xfrm>
          <a:prstGeom prst="roundRect">
            <a:avLst/>
          </a:prstGeom>
          <a:solidFill>
            <a:srgbClr val="12182A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554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  <a:latin typeface="Calibri"/>
              </a:defRPr>
            </a:pPr>
            <a:r>
              <a:t>The seamless integration between deterministic, mathematically explainable scheduling logic and IBM watsonx.ai foundation models. Rather than relying on generic AI hallucinations, watsonx.ai ingests the live single-source-of-truth port schedule, ranked congestion drivers, and active disruption scenarios to stream grounded, executive-grade 72-hour operational shift plans and tactical dispatcher guidance.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20624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Zero Hallucinations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160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AI grounded in live port state — every recommendation is traceable to specific data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828032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782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Dual AI 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7823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Ollama local fallback ensures the system works even when cloud services are unavailable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5449824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404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Explainable Over Optimal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40410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Greedy heuristic chosen for explainability — every decision has a clear, human-readable rationale</a:t>
            </a:r>
          </a:p>
        </p:txBody>
      </p:sp>
      <p:sp>
        <p:nvSpPr>
          <p:cNvPr id="16" name="Oval 15"/>
          <p:cNvSpPr/>
          <p:nvPr/>
        </p:nvSpPr>
        <p:spPr>
          <a:xfrm>
            <a:off x="1371600" y="6071616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60258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Hackathon in 48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60258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Full-stack port operations platform built from scratch with IBM watsonx.ai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 INTELLICORE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Jay Prajapati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 Lead / Full-Stack Developer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56032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Nency Patel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Backend &amp; AI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256032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948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Aeni Patel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Frontend &amp; UI/UX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463040"/>
            <a:ext cx="2560320" cy="1645920"/>
          </a:xfrm>
          <a:prstGeom prst="roundRect">
            <a:avLst/>
          </a:prstGeom>
          <a:solidFill>
            <a:srgbClr val="12182A"/>
          </a:solidFill>
          <a:ln w="1270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04120" y="16459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Dishva Vasoya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Testing &amp;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AA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846320"/>
            <a:ext cx="2743200" cy="254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GitHub: github.com/23dce101-wq/bob-ai-hackathon-Intellicore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Demo Video: drive.google.com/file/d/1_SeszmGZmT-9oOLbL7D8B1_KeVX7GxhU/view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Contact: 23dce101@charusat.edu.in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