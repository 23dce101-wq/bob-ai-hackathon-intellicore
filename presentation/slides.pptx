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3dce101-wq/bob-ai-hackathon-Intellicore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CCBE"/>
                </a:solidFill>
                <a:latin typeface="Aptos Mono"/>
              </a:defRPr>
            </a:pPr>
            <a:r>
              <a:t>IBM BOB AI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t>PortPredict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00CCBE"/>
                </a:solidFill>
                <a:latin typeface="Aptos"/>
              </a:defRPr>
            </a:pPr>
            <a:r>
              <a:t>AI-Powered Port Congestion Prediction &amp; Decision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34440"/>
            <a:ext cx="3108960" cy="393192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549640" y="1874519"/>
            <a:ext cx="2468880" cy="0"/>
          </a:xfrm>
          <a:prstGeom prst="line">
            <a:avLst/>
          </a:prstGeom>
          <a:ln w="15240">
            <a:solidFill>
              <a:srgbClr val="204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2468880"/>
            <a:ext cx="2468880" cy="0"/>
          </a:xfrm>
          <a:prstGeom prst="line">
            <a:avLst/>
          </a:prstGeom>
          <a:ln w="15240">
            <a:solidFill>
              <a:srgbClr val="204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49640" y="3063240"/>
            <a:ext cx="2468880" cy="0"/>
          </a:xfrm>
          <a:prstGeom prst="line">
            <a:avLst/>
          </a:prstGeom>
          <a:ln w="15240">
            <a:solidFill>
              <a:srgbClr val="204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657600"/>
            <a:ext cx="2468880" cy="0"/>
          </a:xfrm>
          <a:prstGeom prst="line">
            <a:avLst/>
          </a:prstGeom>
          <a:ln w="15240">
            <a:solidFill>
              <a:srgbClr val="204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9640" y="4251960"/>
            <a:ext cx="2468880" cy="0"/>
          </a:xfrm>
          <a:prstGeom prst="line">
            <a:avLst/>
          </a:prstGeom>
          <a:ln w="15240">
            <a:solidFill>
              <a:srgbClr val="204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8823960" y="2788920"/>
            <a:ext cx="1645920" cy="685800"/>
          </a:xfrm>
          <a:prstGeom prst="chevron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228600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VESSEL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95560" y="1828800"/>
            <a:ext cx="0" cy="2240280"/>
          </a:xfrm>
          <a:prstGeom prst="line">
            <a:avLst/>
          </a:prstGeom>
          <a:ln w="25400">
            <a:solidFill>
              <a:srgbClr val="00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60" y="1828800"/>
            <a:ext cx="411480" cy="0"/>
          </a:xfrm>
          <a:prstGeom prst="line">
            <a:avLst/>
          </a:prstGeom>
          <a:ln w="25400">
            <a:solidFill>
              <a:srgbClr val="00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52760" y="1828800"/>
            <a:ext cx="0" cy="2240280"/>
          </a:xfrm>
          <a:prstGeom prst="line">
            <a:avLst/>
          </a:prstGeom>
          <a:ln w="25400">
            <a:solidFill>
              <a:srgbClr val="00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52760" y="1828800"/>
            <a:ext cx="411480" cy="0"/>
          </a:xfrm>
          <a:prstGeom prst="line">
            <a:avLst/>
          </a:prstGeom>
          <a:ln w="25400">
            <a:solidFill>
              <a:srgbClr val="00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95360" y="45720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BB8CA"/>
                </a:solidFill>
                <a:latin typeface="Aptos Mono"/>
              </a:defRPr>
            </a:pPr>
            <a:r>
              <a:t>DATA  ·  PORT  · 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290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5F8FC"/>
                </a:solidFill>
                <a:latin typeface="Aptos"/>
              </a:defRPr>
            </a:pPr>
            <a:r>
              <a:t>Predict. Optimize. Simulate. Decide.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605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BB8CA"/>
                </a:solidFill>
                <a:latin typeface="Aptos"/>
              </a:defRPr>
            </a:pPr>
            <a:r>
              <a:t>Team Intellicore  ·  AI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1772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BB8CA"/>
                </a:solidFill>
                <a:latin typeface="Aptos"/>
              </a:defRPr>
            </a:pPr>
            <a:r>
              <a:t>Jay Prajapati · Nency Patel · Aeni Patel · Dishva Vasoya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IBM BOB AI HACKATHON 2026 · INTELLICORE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F46"/>
                </a:solidFill>
                <a:latin typeface="Aptos Mono"/>
              </a:defRPr>
            </a:pPr>
            <a:r>
              <a:t>02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Port operations change faster than manual planning can respond.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14600" cy="141732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F4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4F46"/>
                </a:solidFill>
                <a:latin typeface="Aptos"/>
              </a:defRPr>
            </a:pPr>
            <a:r>
              <a:t>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2316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MANY VESSELS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6148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Different arrival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514600" cy="141732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7B82D"/>
                </a:solidFill>
                <a:latin typeface="Aptos"/>
              </a:defRPr>
            </a:pPr>
            <a:r>
              <a:t>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2316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LIMITED BERTHS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76148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Finite handling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2514600" cy="141732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7B82D"/>
                </a:solidFill>
                <a:latin typeface="Aptos"/>
              </a:defRPr>
            </a:pPr>
            <a: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42316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LIMITED CRANES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76148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Resource 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514600" cy="141732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F4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4F46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42316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UNEXPECTED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6148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Delays &amp; disruptions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3337560"/>
            <a:ext cx="4251960" cy="640079"/>
          </a:xfrm>
          <a:prstGeom prst="line">
            <a:avLst/>
          </a:prstGeom>
          <a:ln w="17780">
            <a:solidFill>
              <a:srgbClr val="64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63440" y="3337560"/>
            <a:ext cx="1417320" cy="640079"/>
          </a:xfrm>
          <a:prstGeom prst="line">
            <a:avLst/>
          </a:prstGeom>
          <a:ln w="17780">
            <a:solidFill>
              <a:srgbClr val="64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0760" y="3337560"/>
            <a:ext cx="1417319" cy="640079"/>
          </a:xfrm>
          <a:prstGeom prst="line">
            <a:avLst/>
          </a:prstGeom>
          <a:ln w="17780">
            <a:solidFill>
              <a:srgbClr val="64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80760" y="3337560"/>
            <a:ext cx="4251960" cy="640079"/>
          </a:xfrm>
          <a:prstGeom prst="line">
            <a:avLst/>
          </a:prstGeom>
          <a:ln w="17780">
            <a:solidFill>
              <a:srgbClr val="64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43400" y="3703320"/>
            <a:ext cx="3520440" cy="960120"/>
          </a:xfrm>
          <a:prstGeom prst="roundRect">
            <a:avLst/>
          </a:prstGeom>
          <a:solidFill>
            <a:srgbClr val="2D191E"/>
          </a:solidFill>
          <a:ln w="16510">
            <a:solidFill>
              <a:srgbClr val="FF4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38587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4F46"/>
                </a:solidFill>
                <a:latin typeface="Aptos"/>
              </a:defRPr>
            </a:pPr>
            <a:r>
              <a:t>CONGESTION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7939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BB8CA"/>
                </a:solidFill>
                <a:latin typeface="Aptos"/>
              </a:defRPr>
            </a:pPr>
            <a:r>
              <a:t>queues  ·  waiting  ·  delays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4187952"/>
            <a:ext cx="1371600" cy="0"/>
          </a:xfrm>
          <a:prstGeom prst="line">
            <a:avLst/>
          </a:prstGeom>
          <a:ln w="25400">
            <a:solidFill>
              <a:srgbClr val="FF4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0" y="391363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Vessel waiting</a:t>
            </a:r>
            <a:br/>
            <a:r>
              <a:t>+ operational 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578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CCBE"/>
                </a:solidFill>
                <a:latin typeface="Aptos"/>
              </a:defRPr>
            </a:pPr>
            <a:r>
              <a:t>Who needs help?  Port operators and terminal planning teams.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ABB8CA"/>
                </a:solidFill>
                <a:latin typeface="Aptos"/>
              </a:defRPr>
            </a:pPr>
            <a:r>
              <a:t>They need to know what is happening, why it is happening, and what to do next.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CBE"/>
                </a:solidFill>
                <a:latin typeface="Aptos Mono"/>
              </a:defRPr>
            </a:pPr>
            <a:r>
              <a:t>03 ·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From vessel data to actionable port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926080" cy="320040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2057400"/>
            <a:ext cx="457200" cy="457200"/>
          </a:xfrm>
          <a:prstGeom prst="ellipse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0299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3774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BB8CA"/>
                </a:solidFill>
                <a:latin typeface="Aptos"/>
              </a:defRPr>
            </a:pPr>
            <a:r>
              <a:t>Vessel data</a:t>
            </a:r>
            <a:br/>
            <a:r>
              <a:t>↓</a:t>
            </a:r>
            <a:br/>
            <a:r>
              <a:t>72-hour schedule</a:t>
            </a:r>
            <a:br/>
            <a:r>
              <a:t>↓</a:t>
            </a:r>
            <a:br/>
            <a:r>
              <a:t>Congestion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74519"/>
            <a:ext cx="2926080" cy="320040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61688" y="2057400"/>
            <a:ext cx="457200" cy="457200"/>
          </a:xfrm>
          <a:prstGeom prst="ellipse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07568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0299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43200"/>
            <a:ext cx="23774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BB8CA"/>
                </a:solidFill>
                <a:latin typeface="Aptos"/>
              </a:defRPr>
            </a:pPr>
            <a:r>
              <a:t>Hotspots + causes</a:t>
            </a:r>
            <a:br/>
            <a:r>
              <a:t>↓</a:t>
            </a:r>
            <a:br/>
            <a:r>
              <a:t>Berth / crane alternatives</a:t>
            </a:r>
            <a:br/>
            <a:r>
              <a:t>↓</a:t>
            </a:r>
            <a:br/>
            <a:r>
              <a:t>Routing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874519"/>
            <a:ext cx="2926080" cy="320040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82128" y="2057400"/>
            <a:ext cx="457200" cy="457200"/>
          </a:xfrm>
          <a:prstGeom prst="ellipse">
            <a:avLst/>
          </a:prstGeom>
          <a:solidFill>
            <a:srgbClr val="23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07568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299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743200"/>
            <a:ext cx="23774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BB8CA"/>
                </a:solidFill>
                <a:latin typeface="Aptos"/>
              </a:defRPr>
            </a:pPr>
            <a:r>
              <a:t>What-if simulation</a:t>
            </a:r>
            <a:br/>
            <a:r>
              <a:t>↓</a:t>
            </a:r>
            <a:br/>
            <a:r>
              <a:t>AI Copilot</a:t>
            </a:r>
            <a:br/>
            <a:r>
              <a:t>↓</a:t>
            </a:r>
            <a:br/>
            <a:r>
              <a:t>72-hour action plan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3474720"/>
            <a:ext cx="457200" cy="0"/>
          </a:xfrm>
          <a:prstGeom prst="line">
            <a:avLst/>
          </a:prstGeom>
          <a:ln w="31750">
            <a:solidFill>
              <a:srgbClr val="00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32320" y="3474720"/>
            <a:ext cx="457200" cy="0"/>
          </a:xfrm>
          <a:prstGeom prst="line">
            <a:avLst/>
          </a:prstGeom>
          <a:ln w="31750">
            <a:solidFill>
              <a:srgbClr val="23D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77440" y="5440680"/>
            <a:ext cx="7406640" cy="640080"/>
          </a:xfrm>
          <a:prstGeom prst="roundRect">
            <a:avLst/>
          </a:prstGeom>
          <a:solidFill>
            <a:srgbClr val="16253E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14600" y="555955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  <a:latin typeface="Aptos Mono"/>
              </a:defRPr>
            </a:pPr>
            <a:r>
              <a:t>DATA  →  INSIGHT  → 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80FF"/>
                </a:solidFill>
                <a:latin typeface="Aptos Mono"/>
              </a:defRPr>
            </a:pPr>
            <a:r>
              <a:t>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The port engine calculates the state; AI explains and assists.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45920"/>
            <a:ext cx="10241280" cy="822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810512"/>
            <a:ext cx="9838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80FF"/>
                </a:solidFill>
                <a:latin typeface="Aptos Mono"/>
              </a:defRPr>
            </a:pPr>
            <a:r>
              <a:t>PORT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121408"/>
            <a:ext cx="9838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743200"/>
            <a:ext cx="10241280" cy="91440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907792"/>
            <a:ext cx="9838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CCBE"/>
                </a:solidFill>
                <a:latin typeface="Aptos Mono"/>
              </a:defRPr>
            </a:pPr>
            <a: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218688"/>
            <a:ext cx="98389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React + TypeScript  ·  Node +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77639"/>
            <a:ext cx="6629400" cy="123444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4142231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D284"/>
                </a:solidFill>
                <a:latin typeface="Aptos Mono"/>
              </a:defRPr>
            </a:pPr>
            <a:r>
              <a:t>PORT OPERATIONS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453127"/>
            <a:ext cx="622706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Schedule  ·  Congestion  ·  Optimization  ·  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977639"/>
            <a:ext cx="3291840" cy="123444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4142231"/>
            <a:ext cx="2889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B82D"/>
                </a:solidFill>
                <a:latin typeface="Aptos Mono"/>
              </a:defRPr>
            </a:pPr>
            <a:r>
              <a:t>AI ASSISTANCE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4453127"/>
            <a:ext cx="2889504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IBM watsonx.ai  ·  Granite</a:t>
            </a:r>
            <a:br/>
            <a:r>
              <a:t>AI Copilot  ·  72h plan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468880"/>
            <a:ext cx="0" cy="256032"/>
          </a:xfrm>
          <a:prstGeom prst="line">
            <a:avLst/>
          </a:prstGeom>
          <a:ln w="2540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3703320"/>
            <a:ext cx="0" cy="256032"/>
          </a:xfrm>
          <a:prstGeom prst="line">
            <a:avLst/>
          </a:prstGeom>
          <a:ln w="2540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43000" y="5349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D284"/>
                </a:solidFill>
                <a:latin typeface="Aptos Mono"/>
              </a:defRPr>
            </a:pPr>
            <a:r>
              <a:t>DETERMINISTIC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7B82D"/>
                </a:solidFill>
                <a:latin typeface="Aptos Mono"/>
              </a:defRPr>
            </a:pPr>
            <a:r>
              <a:t>GENERATIVE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742432"/>
            <a:ext cx="7818120" cy="438912"/>
          </a:xfrm>
          <a:prstGeom prst="roundRect">
            <a:avLst/>
          </a:prstGeom>
          <a:solidFill>
            <a:srgbClr val="0F2337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31720" y="5797296"/>
            <a:ext cx="7543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Calculated operational context  →  grounded explanation &amp;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B82D"/>
                </a:solidFill>
                <a:latin typeface="Aptos Mono"/>
              </a:defRPr>
            </a:pPr>
            <a:r>
              <a:t>05 · DEMO / KEY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From congestion to a tested operational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F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0992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4F46"/>
                </a:solidFill>
                <a:latin typeface="Aptos Mono"/>
              </a:defRPr>
            </a:pPr>
            <a: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82496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B2 is highly utilized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167128"/>
            <a:ext cx="0" cy="329184"/>
          </a:xfrm>
          <a:prstGeom prst="line">
            <a:avLst/>
          </a:prstGeom>
          <a:ln w="1778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5786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82D"/>
                </a:solidFill>
                <a:latin typeface="Aptos Mono"/>
              </a:defRPr>
            </a:pPr>
            <a: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51176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Queue pressure is rising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035808"/>
            <a:ext cx="0" cy="329183"/>
          </a:xfrm>
          <a:prstGeom prst="line">
            <a:avLst/>
          </a:prstGeom>
          <a:ln w="1778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44728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4728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CCBE"/>
                </a:solidFill>
                <a:latin typeface="Aptos Mono"/>
              </a:defRPr>
            </a:pPr>
            <a:r>
              <a:t>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19856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Evaluate another compatible berth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904487"/>
            <a:ext cx="0" cy="329185"/>
          </a:xfrm>
          <a:prstGeom prst="line">
            <a:avLst/>
          </a:prstGeom>
          <a:ln w="1778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9A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31596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15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70FF"/>
                </a:solidFill>
                <a:latin typeface="Aptos Mono"/>
              </a:defRPr>
            </a:pPr>
            <a:r>
              <a:t>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88536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Test a berth-closure scenario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773168"/>
            <a:ext cx="0" cy="329184"/>
          </a:xfrm>
          <a:prstGeom prst="line">
            <a:avLst/>
          </a:prstGeom>
          <a:ln w="1778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23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84648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1846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D284"/>
                </a:solidFill>
                <a:latin typeface="Aptos Mono"/>
              </a:defRPr>
            </a:pPr>
            <a: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157216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View the updated port 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691640"/>
            <a:ext cx="4983480" cy="406908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190195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CCBE"/>
                </a:solidFill>
                <a:latin typeface="Aptos Mono"/>
              </a:defRPr>
            </a:pPr>
            <a:r>
              <a:t>PORT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286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52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BB8CA"/>
                </a:solidFill>
                <a:latin typeface="Aptos"/>
              </a:defRPr>
            </a:pPr>
            <a:r>
              <a:t>B1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2880360"/>
            <a:ext cx="3291840" cy="219456"/>
          </a:xfrm>
          <a:prstGeom prst="rect">
            <a:avLst/>
          </a:prstGeom>
          <a:solidFill>
            <a:srgbClr val="23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78040" y="2880360"/>
            <a:ext cx="1909267" cy="219456"/>
          </a:xfrm>
          <a:prstGeom prst="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07040" y="284378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2A80FF"/>
                </a:solidFill>
                <a:latin typeface="Aptos"/>
              </a:defRPr>
            </a:pPr>
            <a:r>
              <a:t>57%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355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BB8CA"/>
                </a:solidFill>
                <a:latin typeface="Aptos"/>
              </a:defRPr>
            </a:pPr>
            <a:r>
              <a:t>B2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3383280"/>
            <a:ext cx="3291840" cy="219456"/>
          </a:xfrm>
          <a:prstGeom prst="rect">
            <a:avLst/>
          </a:prstGeom>
          <a:solidFill>
            <a:srgbClr val="23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78040" y="3383280"/>
            <a:ext cx="3094329" cy="219456"/>
          </a:xfrm>
          <a:prstGeom prst="rect">
            <a:avLst/>
          </a:prstGeom>
          <a:solidFill>
            <a:srgbClr val="F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07040" y="334670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FF4F46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858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BB8CA"/>
                </a:solidFill>
                <a:latin typeface="Aptos"/>
              </a:defRPr>
            </a:pPr>
            <a:r>
              <a:t>B3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3886200"/>
            <a:ext cx="3291840" cy="219456"/>
          </a:xfrm>
          <a:prstGeom prst="rect">
            <a:avLst/>
          </a:prstGeom>
          <a:solidFill>
            <a:srgbClr val="23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178040" y="3886200"/>
            <a:ext cx="1382572" cy="219456"/>
          </a:xfrm>
          <a:prstGeom prst="rect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07040" y="384962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0CCBE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3616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BB8CA"/>
                </a:solidFill>
                <a:latin typeface="Aptos"/>
              </a:defRPr>
            </a:pPr>
            <a:r>
              <a:t>B4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8040" y="4389120"/>
            <a:ext cx="3291840" cy="219456"/>
          </a:xfrm>
          <a:prstGeom prst="rect">
            <a:avLst/>
          </a:prstGeom>
          <a:solidFill>
            <a:srgbClr val="23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178040" y="4389120"/>
            <a:ext cx="2304288" cy="219456"/>
          </a:xfrm>
          <a:prstGeom prst="rect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607040" y="43525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F7B82D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50749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BB8CA"/>
                </a:solidFill>
                <a:latin typeface="Aptos"/>
              </a:defRPr>
            </a:pPr>
            <a:r>
              <a:t>Illustrative decision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32180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B2 → alternative berth → simulate → new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B82D"/>
                </a:solidFill>
                <a:latin typeface="Aptos Mono"/>
              </a:defRPr>
            </a:pPr>
            <a:r>
              <a:t>06 · IBM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IBM AI turns calculated port context into useful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874519" cy="1965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A80FF"/>
                </a:solidFill>
                <a:latin typeface="Aptos Mono"/>
              </a:defRPr>
            </a:pPr>
            <a:r>
              <a:t>PORT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Schedule</a:t>
            </a:r>
            <a:br/>
            <a:r>
              <a:t>Congestion</a:t>
            </a:r>
            <a:br/>
            <a:r>
              <a:t>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965960"/>
            <a:ext cx="1874519" cy="1965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2212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0CCBE"/>
                </a:solidFill>
                <a:latin typeface="Aptos Mono"/>
              </a:defRPr>
            </a:pPr>
            <a: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Relevant operational</a:t>
            </a:r>
            <a:br/>
            <a:r>
              <a:t>state is prepared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965960"/>
            <a:ext cx="1874519" cy="1965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212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B82D"/>
                </a:solidFill>
                <a:latin typeface="Aptos Mono"/>
              </a:defRPr>
            </a:pPr>
            <a:r>
              <a:t>IBM watsonx.ai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83464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Granite model</a:t>
            </a:r>
            <a:br/>
            <a:r>
              <a:t>AI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1874519" cy="1965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212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A70FF"/>
                </a:solidFill>
                <a:latin typeface="Aptos Mono"/>
              </a:defRPr>
            </a:pPr>
            <a:r>
              <a:t>AI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83464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Natural-language</a:t>
            </a:r>
            <a:br/>
            <a:r>
              <a:t>Q&amp;A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965960"/>
            <a:ext cx="1874519" cy="19659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95560" y="2212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3D284"/>
                </a:solidFill>
                <a:latin typeface="Aptos Mono"/>
              </a:defRPr>
            </a:pPr>
            <a:r>
              <a:t>72h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83464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Action-oriented</a:t>
            </a:r>
            <a:br/>
            <a:r>
              <a:t>plan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944368"/>
            <a:ext cx="384048" cy="0"/>
          </a:xfrm>
          <a:prstGeom prst="line">
            <a:avLst/>
          </a:prstGeom>
          <a:ln w="2286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74920" y="2944368"/>
            <a:ext cx="384048" cy="0"/>
          </a:xfrm>
          <a:prstGeom prst="line">
            <a:avLst/>
          </a:prstGeom>
          <a:ln w="2286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43800" y="2944368"/>
            <a:ext cx="384048" cy="0"/>
          </a:xfrm>
          <a:prstGeom prst="line">
            <a:avLst/>
          </a:prstGeom>
          <a:ln w="2286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01200" y="2944368"/>
            <a:ext cx="384048" cy="0"/>
          </a:xfrm>
          <a:prstGeom prst="line">
            <a:avLst/>
          </a:prstGeom>
          <a:ln w="2286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5840" y="4434840"/>
            <a:ext cx="4800600" cy="1143000"/>
          </a:xfrm>
          <a:prstGeom prst="roundRect">
            <a:avLst/>
          </a:prstGeom>
          <a:solidFill>
            <a:srgbClr val="16253E"/>
          </a:solidFill>
          <a:ln w="1651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46177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A70FF"/>
                </a:solidFill>
                <a:latin typeface="Aptos Mono"/>
              </a:defRPr>
            </a:pPr>
            <a:r>
              <a:t>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5720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“Why is B2 congested?”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00176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AI explains the calculated bottlenecks and current port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434840"/>
            <a:ext cx="4800600" cy="1143000"/>
          </a:xfrm>
          <a:prstGeom prst="roundRect">
            <a:avLst/>
          </a:prstGeom>
          <a:solidFill>
            <a:srgbClr val="16253E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6177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D284"/>
                </a:solidFill>
                <a:latin typeface="Aptos Mono"/>
              </a:defRPr>
            </a:pPr>
            <a:r>
              <a:t>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720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  <a:latin typeface="Aptos"/>
              </a:defRPr>
            </a:pPr>
            <a:r>
              <a:t>“What should I do next?”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00176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AI generates a grounded operational plan from the available context.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70448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7B82D"/>
                </a:solidFill>
                <a:latin typeface="Aptos"/>
              </a:defRPr>
            </a:pPr>
            <a:r>
              <a:t>IBM watsonx.ai / Granite is the generative AI layer — not the core scheduling engine.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D284"/>
                </a:solidFill>
                <a:latin typeface="Aptos Mono"/>
              </a:defRPr>
            </a:pPr>
            <a:r>
              <a:t>07 · RESULTS /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What success looks like for a port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12080" cy="17373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38528"/>
            <a:ext cx="457200" cy="457200"/>
          </a:xfrm>
          <a:prstGeom prst="ellipse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5681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20240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A80FF"/>
                </a:solidFill>
                <a:latin typeface="Aptos Mono"/>
              </a:defRPr>
            </a:pPr>
            <a:r>
              <a:t>EARLIER RISK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0428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72-hour congestion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97480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See risk windows before the schedule becomes critical.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5212080" cy="17373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64807" y="1938528"/>
            <a:ext cx="457200" cy="457200"/>
          </a:xfrm>
          <a:prstGeom prst="ellipse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95681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920240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CCBE"/>
                </a:solidFill>
                <a:latin typeface="Aptos Mono"/>
              </a:defRPr>
            </a:pPr>
            <a:r>
              <a:t>BETTER RESOURCE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30428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Berth + crane alternatives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97480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Evaluate operational changes before applying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5212080" cy="17373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087368"/>
            <a:ext cx="457200" cy="457200"/>
          </a:xfrm>
          <a:prstGeom prst="ellipse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10565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69080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82D"/>
                </a:solidFill>
                <a:latin typeface="Aptos Mono"/>
              </a:defRPr>
            </a:pPr>
            <a:r>
              <a:t>DISRUPTION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5312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What-if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46320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Test closures, failures, surges, weather and delays.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86200"/>
            <a:ext cx="5212080" cy="173736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7" y="4087368"/>
            <a:ext cx="457200" cy="457200"/>
          </a:xfrm>
          <a:prstGeom prst="ellipse">
            <a:avLst/>
          </a:prstGeom>
          <a:solidFill>
            <a:srgbClr val="9A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10565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069080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70FF"/>
                </a:solidFill>
                <a:latin typeface="Aptos Mono"/>
              </a:defRPr>
            </a:pPr>
            <a:r>
              <a:t>CLEARER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53128"/>
            <a:ext cx="4069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AI-assisted explanations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46320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BB8CA"/>
                </a:solidFill>
                <a:latin typeface="Aptos"/>
              </a:defRPr>
            </a:pPr>
            <a:r>
              <a:t>Turn calculated port state into understandable guidance.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5925312"/>
            <a:ext cx="6629400" cy="384048"/>
          </a:xfrm>
          <a:prstGeom prst="roundRect">
            <a:avLst/>
          </a:prstGeom>
          <a:solidFill>
            <a:srgbClr val="16253E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80360" y="5971032"/>
            <a:ext cx="6446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 Mono"/>
              </a:defRPr>
            </a:pPr>
            <a:r>
              <a:t>DATA  →  INSIGHT  → 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CBE"/>
                </a:solidFill>
                <a:latin typeface="Aptos Mono"/>
              </a:defRPr>
            </a:pPr>
            <a:r>
              <a:t>08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Team Intellicore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BB8CA"/>
                </a:solidFill>
                <a:latin typeface="Aptos"/>
              </a:defRPr>
            </a:pPr>
            <a:r>
              <a:t>INTELLICORE · PORTPREDICT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514600" cy="224028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27048" y="1847088"/>
            <a:ext cx="658368" cy="658368"/>
          </a:xfrm>
          <a:prstGeom prst="ellipse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865376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974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Jay Prajapati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546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BB8CA"/>
                </a:solidFill>
                <a:latin typeface="Aptos"/>
              </a:defRPr>
            </a:pPr>
            <a:r>
              <a:t>Team Lead / Full-Stack 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00200"/>
            <a:ext cx="2514600" cy="224028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7408" y="1847088"/>
            <a:ext cx="658368" cy="658368"/>
          </a:xfrm>
          <a:prstGeom prst="ellipse">
            <a:avLst/>
          </a:prstGeom>
          <a:solidFill>
            <a:srgbClr val="0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865376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6974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Nency Patel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1546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BB8CA"/>
                </a:solidFill>
                <a:latin typeface="Aptos"/>
              </a:defRPr>
            </a:pPr>
            <a:r>
              <a:t>Backend &amp; AI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00200"/>
            <a:ext cx="2514600" cy="224028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87768" y="1847088"/>
            <a:ext cx="658368" cy="658368"/>
          </a:xfrm>
          <a:prstGeom prst="ellipse">
            <a:avLst/>
          </a:prstGeom>
          <a:solidFill>
            <a:srgbClr val="9A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1865376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6974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Aeni Patel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1546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BB8CA"/>
                </a:solidFill>
                <a:latin typeface="Aptos"/>
              </a:defRPr>
            </a:pPr>
            <a:r>
              <a:t>Frontend &amp; UI/UX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600200"/>
            <a:ext cx="2514600" cy="2240280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68128" y="1847088"/>
            <a:ext cx="658368" cy="658368"/>
          </a:xfrm>
          <a:prstGeom prst="ellipse">
            <a:avLst/>
          </a:prstGeom>
          <a:solidFill>
            <a:srgbClr val="F7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68128" y="1865376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6974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Dishva Vasoya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15468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BB8CA"/>
                </a:solidFill>
                <a:latin typeface="Aptos"/>
              </a:defRPr>
            </a:pPr>
            <a:r>
              <a:t>Testing &amp;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0CCBE"/>
                </a:solidFill>
                <a:latin typeface="Aptos Mono"/>
              </a:defRPr>
            </a:pPr>
            <a:r>
              <a:t>OUR PROJECT JOURNEY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59152" y="5175504"/>
            <a:ext cx="338328" cy="0"/>
          </a:xfrm>
          <a:prstGeom prst="line">
            <a:avLst/>
          </a:prstGeom>
          <a:ln w="1778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788920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0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39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PREDICT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33672" y="5175504"/>
            <a:ext cx="338328" cy="0"/>
          </a:xfrm>
          <a:prstGeom prst="line">
            <a:avLst/>
          </a:prstGeom>
          <a:ln w="1778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663440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F7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59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OPTIMIZE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08192" y="5175504"/>
            <a:ext cx="338328" cy="0"/>
          </a:xfrm>
          <a:prstGeom prst="line">
            <a:avLst/>
          </a:prstGeom>
          <a:ln w="1778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37959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79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SIMULATE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82712" y="5175504"/>
            <a:ext cx="338328" cy="0"/>
          </a:xfrm>
          <a:prstGeom prst="line">
            <a:avLst/>
          </a:prstGeom>
          <a:ln w="1778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412480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3D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AI ASSIST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57232" y="5175504"/>
            <a:ext cx="338327" cy="0"/>
          </a:xfrm>
          <a:prstGeom prst="line">
            <a:avLst/>
          </a:prstGeom>
          <a:ln w="17780">
            <a:solidFill>
              <a:srgbClr val="AB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287000" y="4892040"/>
            <a:ext cx="1417320" cy="566928"/>
          </a:xfrm>
          <a:prstGeom prst="roundRect">
            <a:avLst/>
          </a:prstGeom>
          <a:solidFill>
            <a:srgbClr val="111C30"/>
          </a:solidFill>
          <a:ln w="16510">
            <a:solidFill>
              <a:srgbClr val="2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20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 Mono"/>
              </a:defRPr>
            </a:pPr>
            <a:r>
              <a:t>DECIDE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80644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PortPredict AI — Turning Port Data into Proactive Decisions.</a:t>
            </a:r>
          </a:p>
        </p:txBody>
      </p:sp>
      <p:sp>
        <p:nvSpPr>
          <p:cNvPr id="47" name="TextBox 46">
            <a:hlinkClick r:id="rId2"/>
          </p:cNvPr>
          <p:cNvSpPr txBox="1"/>
          <p:nvPr/>
        </p:nvSpPr>
        <p:spPr>
          <a:xfrm>
            <a:off x="1645920" y="6199632"/>
            <a:ext cx="8869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ABB8CA"/>
                </a:solidFill>
                <a:latin typeface="Aptos"/>
              </a:defRPr>
            </a:pPr>
            <a:r>
              <a:t>GitHub: github.com/23dce101-wq/bob-ai-hackathon-Intellicore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BB8CA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651</Words>
  <Application>Microsoft Office PowerPoint</Application>
  <PresentationFormat>Widescreen</PresentationFormat>
  <Paragraphs>166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23DCE088 Nency Patel</cp:lastModifiedBy>
  <cp:revision>3</cp:revision>
  <dcterms:created xsi:type="dcterms:W3CDTF">2013-01-27T09:14:16Z</dcterms:created>
  <dcterms:modified xsi:type="dcterms:W3CDTF">2026-09-18T16:19:28Z</dcterms:modified>
  <cp:category/>
</cp:coreProperties>
</file>